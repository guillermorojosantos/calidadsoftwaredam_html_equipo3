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Fjalla One"/>
      <p:regular r:id="rId10"/>
    </p:embeddedFont>
    <p:embeddedFont>
      <p:font typeface="Barlow Semi Condensed Medium"/>
      <p:regular r:id="rId11"/>
      <p:bold r:id="rId12"/>
      <p:italic r:id="rId13"/>
      <p:boldItalic r:id="rId14"/>
    </p:embeddedFont>
    <p:embeddedFont>
      <p:font typeface="Abel"/>
      <p:regular r:id="rId15"/>
    </p:embeddedFont>
    <p:embeddedFont>
      <p:font typeface="Barlow Semi Condense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BarlowSemiCondensedMedium-regular.fntdata"/><Relationship Id="rId10" Type="http://schemas.openxmlformats.org/officeDocument/2006/relationships/font" Target="fonts/FjallaOne-regular.fntdata"/><Relationship Id="rId13" Type="http://schemas.openxmlformats.org/officeDocument/2006/relationships/font" Target="fonts/BarlowSemiCondensedMedium-italic.fntdata"/><Relationship Id="rId12" Type="http://schemas.openxmlformats.org/officeDocument/2006/relationships/font" Target="fonts/BarlowSemiCondensedMedium-bold.fntdata"/><Relationship Id="rId15" Type="http://schemas.openxmlformats.org/officeDocument/2006/relationships/font" Target="fonts/Abel-regular.fntdata"/><Relationship Id="rId14" Type="http://schemas.openxmlformats.org/officeDocument/2006/relationships/font" Target="fonts/BarlowSemiCondensedMedium-boldItalic.fntdata"/><Relationship Id="rId17" Type="http://schemas.openxmlformats.org/officeDocument/2006/relationships/font" Target="fonts/BarlowSemiCondensed-bold.fntdata"/><Relationship Id="rId16" Type="http://schemas.openxmlformats.org/officeDocument/2006/relationships/font" Target="fonts/BarlowSemiCondensed-regular.fntdata"/><Relationship Id="rId19" Type="http://schemas.openxmlformats.org/officeDocument/2006/relationships/font" Target="fonts/BarlowSemiCondensed-boldItalic.fntdata"/><Relationship Id="rId18" Type="http://schemas.openxmlformats.org/officeDocument/2006/relationships/font" Target="fonts/BarlowSemiCondense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804e9800b4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804e9800b4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g109946b2d2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109946b2d2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804e9800b4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6" name="Google Shape;1986;g804e9800b4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10d1053608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10d105360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33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33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3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3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3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3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3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3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3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3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3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3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3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3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3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3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3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3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3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3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3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3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3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3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3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3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3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0" name="Google Shape;1880;p33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Agile Testing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1" name="Google Shape;1881;p33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Grupo 3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6" name="Google Shape;1886;p34"/>
          <p:cNvGrpSpPr/>
          <p:nvPr/>
        </p:nvGrpSpPr>
        <p:grpSpPr>
          <a:xfrm>
            <a:off x="3732436" y="156891"/>
            <a:ext cx="1679127" cy="1679127"/>
            <a:chOff x="3614228" y="234880"/>
            <a:chExt cx="1915500" cy="1915500"/>
          </a:xfrm>
        </p:grpSpPr>
        <p:sp>
          <p:nvSpPr>
            <p:cNvPr id="1887" name="Google Shape;1887;p34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34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9" name="Google Shape;1889;p34"/>
          <p:cNvSpPr txBox="1"/>
          <p:nvPr/>
        </p:nvSpPr>
        <p:spPr>
          <a:xfrm>
            <a:off x="4039175" y="1103583"/>
            <a:ext cx="1065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rPr>
              <a:t>Agile Testing</a:t>
            </a:r>
            <a:endParaRPr>
              <a:solidFill>
                <a:schemeClr val="dk2"/>
              </a:solidFill>
              <a:latin typeface="Abel"/>
              <a:ea typeface="Abel"/>
              <a:cs typeface="Abel"/>
              <a:sym typeface="Abel"/>
            </a:endParaRPr>
          </a:p>
        </p:txBody>
      </p:sp>
      <p:grpSp>
        <p:nvGrpSpPr>
          <p:cNvPr id="1890" name="Google Shape;1890;p34"/>
          <p:cNvGrpSpPr/>
          <p:nvPr/>
        </p:nvGrpSpPr>
        <p:grpSpPr>
          <a:xfrm>
            <a:off x="4276542" y="580636"/>
            <a:ext cx="591455" cy="590639"/>
            <a:chOff x="1190625" y="238125"/>
            <a:chExt cx="5238750" cy="5231525"/>
          </a:xfrm>
        </p:grpSpPr>
        <p:sp>
          <p:nvSpPr>
            <p:cNvPr id="1891" name="Google Shape;1891;p34"/>
            <p:cNvSpPr/>
            <p:nvPr/>
          </p:nvSpPr>
          <p:spPr>
            <a:xfrm>
              <a:off x="1190625" y="259325"/>
              <a:ext cx="5238750" cy="5210325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2" name="Google Shape;1892;p34"/>
            <p:cNvSpPr/>
            <p:nvPr/>
          </p:nvSpPr>
          <p:spPr>
            <a:xfrm>
              <a:off x="4202861" y="1284806"/>
              <a:ext cx="1389300" cy="13893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3" name="Google Shape;1893;p34"/>
            <p:cNvSpPr/>
            <p:nvPr/>
          </p:nvSpPr>
          <p:spPr>
            <a:xfrm>
              <a:off x="3730400" y="4080350"/>
              <a:ext cx="173675" cy="26050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4" name="Google Shape;1894;p34"/>
            <p:cNvSpPr/>
            <p:nvPr/>
          </p:nvSpPr>
          <p:spPr>
            <a:xfrm>
              <a:off x="2430350" y="1227000"/>
              <a:ext cx="1473725" cy="267970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5" name="Google Shape;1895;p34"/>
            <p:cNvSpPr/>
            <p:nvPr/>
          </p:nvSpPr>
          <p:spPr>
            <a:xfrm>
              <a:off x="5467000" y="3472525"/>
              <a:ext cx="607825" cy="17370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6" name="Google Shape;1896;p34"/>
            <p:cNvSpPr/>
            <p:nvPr/>
          </p:nvSpPr>
          <p:spPr>
            <a:xfrm>
              <a:off x="5324700" y="3925975"/>
              <a:ext cx="631950" cy="56685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7" name="Google Shape;1897;p34"/>
            <p:cNvSpPr/>
            <p:nvPr/>
          </p:nvSpPr>
          <p:spPr>
            <a:xfrm>
              <a:off x="4946025" y="4167175"/>
              <a:ext cx="173675" cy="607825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8" name="Google Shape;1898;p34"/>
            <p:cNvSpPr/>
            <p:nvPr/>
          </p:nvSpPr>
          <p:spPr>
            <a:xfrm>
              <a:off x="1279850" y="1564675"/>
              <a:ext cx="735675" cy="342525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9" name="Google Shape;1899;p34"/>
            <p:cNvSpPr/>
            <p:nvPr/>
          </p:nvSpPr>
          <p:spPr>
            <a:xfrm>
              <a:off x="1424575" y="710850"/>
              <a:ext cx="706725" cy="574075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900" name="Google Shape;1900;p34"/>
            <p:cNvSpPr/>
            <p:nvPr/>
          </p:nvSpPr>
          <p:spPr>
            <a:xfrm>
              <a:off x="2167450" y="238125"/>
              <a:ext cx="344925" cy="738075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901" name="Google Shape;1901;p3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¿Que significa esto?</a:t>
            </a:r>
            <a:endParaRPr/>
          </a:p>
        </p:txBody>
      </p:sp>
      <p:sp>
        <p:nvSpPr>
          <p:cNvPr id="1902" name="Google Shape;1902;p3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111111"/>
                </a:solidFill>
                <a:highlight>
                  <a:srgbClr val="FFFFFF"/>
                </a:highlight>
              </a:rPr>
              <a:t>La </a:t>
            </a:r>
            <a:r>
              <a:rPr b="1" lang="en" sz="1250">
                <a:solidFill>
                  <a:srgbClr val="111111"/>
                </a:solidFill>
                <a:highlight>
                  <a:srgbClr val="FFFFFF"/>
                </a:highlight>
              </a:rPr>
              <a:t>pruebas ágiles</a:t>
            </a:r>
            <a:r>
              <a:rPr lang="en" sz="1250">
                <a:solidFill>
                  <a:srgbClr val="111111"/>
                </a:solidFill>
                <a:highlight>
                  <a:srgbClr val="FFFFFF"/>
                </a:highlight>
              </a:rPr>
              <a:t> o </a:t>
            </a:r>
            <a:r>
              <a:rPr i="1" lang="en" sz="1250">
                <a:solidFill>
                  <a:srgbClr val="111111"/>
                </a:solidFill>
                <a:highlight>
                  <a:srgbClr val="FFFFFF"/>
                </a:highlight>
              </a:rPr>
              <a:t>agile testing</a:t>
            </a:r>
            <a:r>
              <a:rPr lang="en" sz="1250">
                <a:solidFill>
                  <a:srgbClr val="111111"/>
                </a:solidFill>
                <a:highlight>
                  <a:srgbClr val="FFFFFF"/>
                </a:highlight>
              </a:rPr>
              <a:t> es un proceso de validación para </a:t>
            </a:r>
            <a:r>
              <a:rPr i="1" lang="en" sz="1250">
                <a:solidFill>
                  <a:srgbClr val="111111"/>
                </a:solidFill>
                <a:highlight>
                  <a:srgbClr val="FFFFFF"/>
                </a:highlight>
              </a:rPr>
              <a:t>software</a:t>
            </a:r>
            <a:r>
              <a:rPr lang="en" sz="1250">
                <a:solidFill>
                  <a:srgbClr val="111111"/>
                </a:solidFill>
                <a:highlight>
                  <a:srgbClr val="FFFFFF"/>
                </a:highlight>
              </a:rPr>
              <a:t> y productos digitales que sigue los principios del desarrollo de software ágil. Las </a:t>
            </a:r>
            <a:r>
              <a:rPr b="1" lang="en" sz="1250">
                <a:solidFill>
                  <a:srgbClr val="111111"/>
                </a:solidFill>
                <a:highlight>
                  <a:srgbClr val="FFFFFF"/>
                </a:highlight>
              </a:rPr>
              <a:t>pruebas ágiles</a:t>
            </a:r>
            <a:r>
              <a:rPr lang="en" sz="1250">
                <a:solidFill>
                  <a:srgbClr val="111111"/>
                </a:solidFill>
                <a:highlight>
                  <a:srgbClr val="FFFFFF"/>
                </a:highlight>
              </a:rPr>
              <a:t> están alineadas con las metodologías de diseño iterativo, en la que los requerimientos se desarrollan gradualmente desde los usuarios y del equipo de investigación (</a:t>
            </a:r>
            <a:r>
              <a:rPr i="1" lang="en" sz="1250">
                <a:solidFill>
                  <a:srgbClr val="111111"/>
                </a:solidFill>
                <a:highlight>
                  <a:srgbClr val="FFFFFF"/>
                </a:highlight>
              </a:rPr>
              <a:t>research</a:t>
            </a:r>
            <a:r>
              <a:rPr lang="en" sz="1250">
                <a:solidFill>
                  <a:srgbClr val="111111"/>
                </a:solidFill>
                <a:highlight>
                  <a:srgbClr val="FFFFFF"/>
                </a:highlight>
              </a:rPr>
              <a:t>) para que esté </a:t>
            </a:r>
            <a:r>
              <a:rPr b="1" lang="en" sz="1250">
                <a:solidFill>
                  <a:srgbClr val="111111"/>
                </a:solidFill>
                <a:highlight>
                  <a:srgbClr val="FFFFFF"/>
                </a:highlight>
              </a:rPr>
              <a:t>centrado en el usuario</a:t>
            </a:r>
            <a:r>
              <a:rPr lang="en" sz="1250">
                <a:solidFill>
                  <a:srgbClr val="111111"/>
                </a:solidFill>
                <a:highlight>
                  <a:srgbClr val="FFFFFF"/>
                </a:highlight>
              </a:rPr>
              <a:t> desde el principio.</a:t>
            </a:r>
            <a:endParaRPr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7" name="Google Shape;1907;p35"/>
          <p:cNvGrpSpPr/>
          <p:nvPr/>
        </p:nvGrpSpPr>
        <p:grpSpPr>
          <a:xfrm>
            <a:off x="221622" y="549273"/>
            <a:ext cx="635100" cy="734640"/>
            <a:chOff x="731647" y="573573"/>
            <a:chExt cx="635100" cy="734640"/>
          </a:xfrm>
        </p:grpSpPr>
        <p:grpSp>
          <p:nvGrpSpPr>
            <p:cNvPr id="1908" name="Google Shape;1908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909" name="Google Shape;1909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1" name="Google Shape;1911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912" name="Google Shape;1912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13" name="Google Shape;1913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14" name="Google Shape;1914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915" name="Google Shape;1915;p35"/>
          <p:cNvGrpSpPr/>
          <p:nvPr/>
        </p:nvGrpSpPr>
        <p:grpSpPr>
          <a:xfrm>
            <a:off x="228397" y="1628260"/>
            <a:ext cx="635100" cy="733490"/>
            <a:chOff x="731647" y="1650460"/>
            <a:chExt cx="635100" cy="733490"/>
          </a:xfrm>
        </p:grpSpPr>
        <p:grpSp>
          <p:nvGrpSpPr>
            <p:cNvPr id="1916" name="Google Shape;1916;p35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1917" name="Google Shape;1917;p35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35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9" name="Google Shape;1919;p35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1920" name="Google Shape;1920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21" name="Google Shape;1921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22" name="Google Shape;1922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923" name="Google Shape;1923;p35"/>
          <p:cNvGrpSpPr/>
          <p:nvPr/>
        </p:nvGrpSpPr>
        <p:grpSpPr>
          <a:xfrm>
            <a:off x="228397" y="2706077"/>
            <a:ext cx="635100" cy="734984"/>
            <a:chOff x="731647" y="2728277"/>
            <a:chExt cx="635100" cy="734984"/>
          </a:xfrm>
        </p:grpSpPr>
        <p:grpSp>
          <p:nvGrpSpPr>
            <p:cNvPr id="1924" name="Google Shape;1924;p35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1925" name="Google Shape;1925;p35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35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7" name="Google Shape;1927;p35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1928" name="Google Shape;1928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29" name="Google Shape;1929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30" name="Google Shape;1930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931" name="Google Shape;1931;p35"/>
          <p:cNvGrpSpPr/>
          <p:nvPr/>
        </p:nvGrpSpPr>
        <p:grpSpPr>
          <a:xfrm>
            <a:off x="228397" y="3784475"/>
            <a:ext cx="635100" cy="734704"/>
            <a:chOff x="731647" y="3806675"/>
            <a:chExt cx="635100" cy="734704"/>
          </a:xfrm>
        </p:grpSpPr>
        <p:grpSp>
          <p:nvGrpSpPr>
            <p:cNvPr id="1932" name="Google Shape;1932;p35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1933" name="Google Shape;1933;p35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35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5" name="Google Shape;1935;p35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1936" name="Google Shape;1936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37" name="Google Shape;1937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38" name="Google Shape;1938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939" name="Google Shape;1939;p35"/>
          <p:cNvSpPr txBox="1"/>
          <p:nvPr>
            <p:ph idx="2" type="subTitle"/>
          </p:nvPr>
        </p:nvSpPr>
        <p:spPr>
          <a:xfrm>
            <a:off x="1160958" y="691032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persona encargada de hacer el diseño lo testea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40" name="Google Shape;1940;p35"/>
          <p:cNvSpPr txBox="1"/>
          <p:nvPr>
            <p:ph idx="1" type="subTitle"/>
          </p:nvPr>
        </p:nvSpPr>
        <p:spPr>
          <a:xfrm>
            <a:off x="1160958" y="407568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 pruebas son continuas</a:t>
            </a:r>
            <a:endParaRPr/>
          </a:p>
        </p:txBody>
      </p:sp>
      <p:sp>
        <p:nvSpPr>
          <p:cNvPr id="1941" name="Google Shape;1941;p35"/>
          <p:cNvSpPr txBox="1"/>
          <p:nvPr>
            <p:ph idx="3" type="subTitle"/>
          </p:nvPr>
        </p:nvSpPr>
        <p:spPr>
          <a:xfrm>
            <a:off x="1160950" y="1486550"/>
            <a:ext cx="36792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Proveer retroalimentación constante</a:t>
            </a:r>
            <a:endParaRPr/>
          </a:p>
        </p:txBody>
      </p:sp>
      <p:sp>
        <p:nvSpPr>
          <p:cNvPr id="1942" name="Google Shape;1942;p35"/>
          <p:cNvSpPr txBox="1"/>
          <p:nvPr>
            <p:ph idx="4" type="subTitle"/>
          </p:nvPr>
        </p:nvSpPr>
        <p:spPr>
          <a:xfrm>
            <a:off x="1160949" y="1770025"/>
            <a:ext cx="29094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Provee retroalimentación continua para que el diseño alcance los objetivos</a:t>
            </a:r>
            <a:endParaRPr/>
          </a:p>
        </p:txBody>
      </p:sp>
      <p:sp>
        <p:nvSpPr>
          <p:cNvPr id="1943" name="Google Shape;1943;p35"/>
          <p:cNvSpPr txBox="1"/>
          <p:nvPr>
            <p:ph idx="5" type="subTitle"/>
          </p:nvPr>
        </p:nvSpPr>
        <p:spPr>
          <a:xfrm>
            <a:off x="1160950" y="2565550"/>
            <a:ext cx="45525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Rapidez a la retroalimentación</a:t>
            </a:r>
            <a:endParaRPr/>
          </a:p>
        </p:txBody>
      </p:sp>
      <p:sp>
        <p:nvSpPr>
          <p:cNvPr id="1944" name="Google Shape;1944;p35"/>
          <p:cNvSpPr txBox="1"/>
          <p:nvPr>
            <p:ph idx="6" type="subTitle"/>
          </p:nvPr>
        </p:nvSpPr>
        <p:spPr>
          <a:xfrm>
            <a:off x="1123925" y="2849000"/>
            <a:ext cx="323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El flujo de retroalimentación continua acorta el tiempo de respuesta y la toma de decisiones</a:t>
            </a:r>
            <a:endParaRPr/>
          </a:p>
        </p:txBody>
      </p:sp>
      <p:sp>
        <p:nvSpPr>
          <p:cNvPr id="1945" name="Google Shape;1945;p35"/>
          <p:cNvSpPr txBox="1"/>
          <p:nvPr>
            <p:ph idx="7" type="subTitle"/>
          </p:nvPr>
        </p:nvSpPr>
        <p:spPr>
          <a:xfrm>
            <a:off x="1160949" y="3644550"/>
            <a:ext cx="29094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Crear código limpio</a:t>
            </a:r>
            <a:endParaRPr/>
          </a:p>
        </p:txBody>
      </p:sp>
      <p:sp>
        <p:nvSpPr>
          <p:cNvPr id="1946" name="Google Shape;1946;p35"/>
          <p:cNvSpPr txBox="1"/>
          <p:nvPr>
            <p:ph idx="8" type="subTitle"/>
          </p:nvPr>
        </p:nvSpPr>
        <p:spPr>
          <a:xfrm>
            <a:off x="1160958" y="3928008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Procurar tener un código simple y entendible</a:t>
            </a:r>
            <a:endParaRPr/>
          </a:p>
        </p:txBody>
      </p:sp>
      <p:sp>
        <p:nvSpPr>
          <p:cNvPr id="1947" name="Google Shape;1947;p35"/>
          <p:cNvSpPr txBox="1"/>
          <p:nvPr>
            <p:ph idx="9" type="title"/>
          </p:nvPr>
        </p:nvSpPr>
        <p:spPr>
          <a:xfrm>
            <a:off x="303791" y="6980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48" name="Google Shape;1948;p35"/>
          <p:cNvSpPr txBox="1"/>
          <p:nvPr>
            <p:ph idx="13" type="title"/>
          </p:nvPr>
        </p:nvSpPr>
        <p:spPr>
          <a:xfrm>
            <a:off x="310566" y="17791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49" name="Google Shape;1949;p35"/>
          <p:cNvSpPr txBox="1"/>
          <p:nvPr>
            <p:ph idx="14" type="title"/>
          </p:nvPr>
        </p:nvSpPr>
        <p:spPr>
          <a:xfrm>
            <a:off x="310566" y="28581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50" name="Google Shape;1950;p35"/>
          <p:cNvSpPr txBox="1"/>
          <p:nvPr>
            <p:ph idx="15" type="title"/>
          </p:nvPr>
        </p:nvSpPr>
        <p:spPr>
          <a:xfrm>
            <a:off x="310566" y="39371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951" name="Google Shape;1951;p35"/>
          <p:cNvGrpSpPr/>
          <p:nvPr/>
        </p:nvGrpSpPr>
        <p:grpSpPr>
          <a:xfrm>
            <a:off x="4692672" y="831064"/>
            <a:ext cx="635100" cy="734984"/>
            <a:chOff x="731647" y="2728277"/>
            <a:chExt cx="635100" cy="734984"/>
          </a:xfrm>
        </p:grpSpPr>
        <p:grpSp>
          <p:nvGrpSpPr>
            <p:cNvPr id="1952" name="Google Shape;1952;p35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1953" name="Google Shape;1953;p35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35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5" name="Google Shape;1955;p35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1956" name="Google Shape;1956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57" name="Google Shape;1957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58" name="Google Shape;1958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959" name="Google Shape;1959;p35"/>
          <p:cNvGrpSpPr/>
          <p:nvPr/>
        </p:nvGrpSpPr>
        <p:grpSpPr>
          <a:xfrm>
            <a:off x="4692672" y="1997000"/>
            <a:ext cx="635100" cy="734704"/>
            <a:chOff x="731647" y="3806675"/>
            <a:chExt cx="635100" cy="734704"/>
          </a:xfrm>
        </p:grpSpPr>
        <p:grpSp>
          <p:nvGrpSpPr>
            <p:cNvPr id="1960" name="Google Shape;1960;p35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1961" name="Google Shape;1961;p35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35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3" name="Google Shape;1963;p35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1964" name="Google Shape;1964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65" name="Google Shape;1965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66" name="Google Shape;1966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967" name="Google Shape;1967;p35"/>
          <p:cNvSpPr txBox="1"/>
          <p:nvPr>
            <p:ph idx="5" type="subTitle"/>
          </p:nvPr>
        </p:nvSpPr>
        <p:spPr>
          <a:xfrm>
            <a:off x="5543175" y="611550"/>
            <a:ext cx="45525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Producir menos documentación</a:t>
            </a:r>
            <a:endParaRPr/>
          </a:p>
        </p:txBody>
      </p:sp>
      <p:sp>
        <p:nvSpPr>
          <p:cNvPr id="1968" name="Google Shape;1968;p35"/>
          <p:cNvSpPr txBox="1"/>
          <p:nvPr>
            <p:ph idx="6" type="subTitle"/>
          </p:nvPr>
        </p:nvSpPr>
        <p:spPr>
          <a:xfrm>
            <a:off x="5543172" y="910550"/>
            <a:ext cx="3538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Pueden utilizar listas reutilizables para enfocarse en probar el producto en lugar de enfocarse en detalles incidentales</a:t>
            </a:r>
            <a:endParaRPr/>
          </a:p>
        </p:txBody>
      </p:sp>
      <p:sp>
        <p:nvSpPr>
          <p:cNvPr id="1969" name="Google Shape;1969;p35"/>
          <p:cNvSpPr txBox="1"/>
          <p:nvPr>
            <p:ph idx="7" type="subTitle"/>
          </p:nvPr>
        </p:nvSpPr>
        <p:spPr>
          <a:xfrm>
            <a:off x="5543174" y="1920663"/>
            <a:ext cx="29094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Probar para descubrir</a:t>
            </a:r>
            <a:endParaRPr/>
          </a:p>
        </p:txBody>
      </p:sp>
      <p:sp>
        <p:nvSpPr>
          <p:cNvPr id="1970" name="Google Shape;1970;p35"/>
          <p:cNvSpPr txBox="1"/>
          <p:nvPr>
            <p:ph idx="8" type="subTitle"/>
          </p:nvPr>
        </p:nvSpPr>
        <p:spPr>
          <a:xfrm>
            <a:off x="5543183" y="2211896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 el enfoque ágil, las pruebas se realizan en el momento de la implementación</a:t>
            </a:r>
            <a:endParaRPr/>
          </a:p>
        </p:txBody>
      </p:sp>
      <p:sp>
        <p:nvSpPr>
          <p:cNvPr id="1971" name="Google Shape;1971;p35"/>
          <p:cNvSpPr txBox="1"/>
          <p:nvPr>
            <p:ph idx="14" type="title"/>
          </p:nvPr>
        </p:nvSpPr>
        <p:spPr>
          <a:xfrm>
            <a:off x="4774841" y="98314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972" name="Google Shape;1972;p35"/>
          <p:cNvSpPr txBox="1"/>
          <p:nvPr>
            <p:ph idx="15" type="title"/>
          </p:nvPr>
        </p:nvSpPr>
        <p:spPr>
          <a:xfrm>
            <a:off x="4788391" y="214299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973" name="Google Shape;1973;p35"/>
          <p:cNvGrpSpPr/>
          <p:nvPr/>
        </p:nvGrpSpPr>
        <p:grpSpPr>
          <a:xfrm>
            <a:off x="4685897" y="3302850"/>
            <a:ext cx="635100" cy="734704"/>
            <a:chOff x="731647" y="3806675"/>
            <a:chExt cx="635100" cy="734704"/>
          </a:xfrm>
        </p:grpSpPr>
        <p:grpSp>
          <p:nvGrpSpPr>
            <p:cNvPr id="1974" name="Google Shape;1974;p35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1975" name="Google Shape;1975;p35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35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7" name="Google Shape;1977;p35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1978" name="Google Shape;1978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79" name="Google Shape;1979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80" name="Google Shape;1980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981" name="Google Shape;1981;p35"/>
          <p:cNvSpPr txBox="1"/>
          <p:nvPr>
            <p:ph idx="7" type="subTitle"/>
          </p:nvPr>
        </p:nvSpPr>
        <p:spPr>
          <a:xfrm>
            <a:off x="5543175" y="3210425"/>
            <a:ext cx="32340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equipo completo hace pruebas</a:t>
            </a:r>
            <a:endParaRPr/>
          </a:p>
        </p:txBody>
      </p:sp>
      <p:sp>
        <p:nvSpPr>
          <p:cNvPr id="1982" name="Google Shape;1982;p35"/>
          <p:cNvSpPr txBox="1"/>
          <p:nvPr>
            <p:ph idx="8" type="subTitle"/>
          </p:nvPr>
        </p:nvSpPr>
        <p:spPr>
          <a:xfrm>
            <a:off x="5543183" y="3493883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Todos los integrantes del equipo sea cual se su funcion realiza pruebas en su campo</a:t>
            </a:r>
            <a:endParaRPr/>
          </a:p>
        </p:txBody>
      </p:sp>
      <p:sp>
        <p:nvSpPr>
          <p:cNvPr id="1983" name="Google Shape;1983;p35"/>
          <p:cNvSpPr txBox="1"/>
          <p:nvPr>
            <p:ph idx="15" type="title"/>
          </p:nvPr>
        </p:nvSpPr>
        <p:spPr>
          <a:xfrm>
            <a:off x="4768066" y="3455527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36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Ventajas del método Agile</a:t>
            </a:r>
            <a:endParaRPr/>
          </a:p>
        </p:txBody>
      </p:sp>
      <p:sp>
        <p:nvSpPr>
          <p:cNvPr id="1989" name="Google Shape;1989;p36"/>
          <p:cNvSpPr txBox="1"/>
          <p:nvPr>
            <p:ph idx="1" type="subTitle"/>
          </p:nvPr>
        </p:nvSpPr>
        <p:spPr>
          <a:xfrm>
            <a:off x="1051253" y="1545336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5"/>
                </a:solidFill>
              </a:rPr>
              <a:t>Ahorro de</a:t>
            </a:r>
            <a:endParaRPr sz="33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5"/>
                </a:solidFill>
              </a:rPr>
              <a:t>Tiempo</a:t>
            </a:r>
            <a:endParaRPr sz="3300">
              <a:solidFill>
                <a:schemeClr val="accent5"/>
              </a:solidFill>
            </a:endParaRPr>
          </a:p>
        </p:txBody>
      </p:sp>
      <p:sp>
        <p:nvSpPr>
          <p:cNvPr id="1990" name="Google Shape;1990;p36"/>
          <p:cNvSpPr txBox="1"/>
          <p:nvPr/>
        </p:nvSpPr>
        <p:spPr>
          <a:xfrm>
            <a:off x="-35586" y="17036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dk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91" name="Google Shape;1991;p36"/>
          <p:cNvSpPr txBox="1"/>
          <p:nvPr>
            <p:ph idx="1" type="subTitle"/>
          </p:nvPr>
        </p:nvSpPr>
        <p:spPr>
          <a:xfrm>
            <a:off x="1465063" y="3516500"/>
            <a:ext cx="2827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5"/>
                </a:solidFill>
              </a:rPr>
              <a:t>Reducción</a:t>
            </a:r>
            <a:endParaRPr sz="32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5"/>
                </a:solidFill>
              </a:rPr>
              <a:t>comentarios</a:t>
            </a:r>
            <a:endParaRPr sz="3200">
              <a:solidFill>
                <a:schemeClr val="accent5"/>
              </a:solidFill>
            </a:endParaRPr>
          </a:p>
        </p:txBody>
      </p:sp>
      <p:sp>
        <p:nvSpPr>
          <p:cNvPr id="1992" name="Google Shape;1992;p36"/>
          <p:cNvSpPr txBox="1"/>
          <p:nvPr/>
        </p:nvSpPr>
        <p:spPr>
          <a:xfrm>
            <a:off x="267201" y="3671959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dk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93" name="Google Shape;1993;p36"/>
          <p:cNvSpPr txBox="1"/>
          <p:nvPr>
            <p:ph idx="1" type="subTitle"/>
          </p:nvPr>
        </p:nvSpPr>
        <p:spPr>
          <a:xfrm>
            <a:off x="4212553" y="1582336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5"/>
                </a:solidFill>
              </a:rPr>
              <a:t>Adaptable</a:t>
            </a:r>
            <a:endParaRPr sz="33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5"/>
                </a:solidFill>
              </a:rPr>
              <a:t>al cambio</a:t>
            </a:r>
            <a:endParaRPr sz="3300">
              <a:solidFill>
                <a:schemeClr val="accent5"/>
              </a:solidFill>
            </a:endParaRPr>
          </a:p>
        </p:txBody>
      </p:sp>
      <p:sp>
        <p:nvSpPr>
          <p:cNvPr id="1994" name="Google Shape;1994;p36"/>
          <p:cNvSpPr txBox="1"/>
          <p:nvPr/>
        </p:nvSpPr>
        <p:spPr>
          <a:xfrm>
            <a:off x="3014689" y="1737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dk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95" name="Google Shape;1995;p36"/>
          <p:cNvSpPr txBox="1"/>
          <p:nvPr>
            <p:ph idx="1" type="subTitle"/>
          </p:nvPr>
        </p:nvSpPr>
        <p:spPr>
          <a:xfrm>
            <a:off x="4781788" y="3516500"/>
            <a:ext cx="21600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accent5"/>
                </a:solidFill>
              </a:rPr>
              <a:t>Integracion</a:t>
            </a:r>
            <a:endParaRPr sz="2500">
              <a:solidFill>
                <a:schemeClr val="accent5"/>
              </a:solidFill>
            </a:endParaRPr>
          </a:p>
        </p:txBody>
      </p:sp>
      <p:sp>
        <p:nvSpPr>
          <p:cNvPr id="1996" name="Google Shape;1996;p36"/>
          <p:cNvSpPr txBox="1"/>
          <p:nvPr/>
        </p:nvSpPr>
        <p:spPr>
          <a:xfrm>
            <a:off x="3602177" y="3671959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04</a:t>
            </a:r>
            <a:endParaRPr sz="7200">
              <a:solidFill>
                <a:schemeClr val="dk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97" name="Google Shape;1997;p36"/>
          <p:cNvSpPr txBox="1"/>
          <p:nvPr>
            <p:ph idx="1" type="subTitle"/>
          </p:nvPr>
        </p:nvSpPr>
        <p:spPr>
          <a:xfrm>
            <a:off x="7066200" y="2441875"/>
            <a:ext cx="2827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5"/>
                </a:solidFill>
              </a:rPr>
              <a:t>Resolución </a:t>
            </a:r>
            <a:endParaRPr sz="28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5"/>
                </a:solidFill>
              </a:rPr>
              <a:t>de Problemas</a:t>
            </a:r>
            <a:endParaRPr sz="2400">
              <a:solidFill>
                <a:schemeClr val="accent5"/>
              </a:solidFill>
            </a:endParaRPr>
          </a:p>
        </p:txBody>
      </p:sp>
      <p:sp>
        <p:nvSpPr>
          <p:cNvPr id="1998" name="Google Shape;1998;p36"/>
          <p:cNvSpPr txBox="1"/>
          <p:nvPr/>
        </p:nvSpPr>
        <p:spPr>
          <a:xfrm>
            <a:off x="5957164" y="256323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05</a:t>
            </a:r>
            <a:endParaRPr sz="7200">
              <a:solidFill>
                <a:schemeClr val="dk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37"/>
          <p:cNvSpPr txBox="1"/>
          <p:nvPr>
            <p:ph type="title"/>
          </p:nvPr>
        </p:nvSpPr>
        <p:spPr>
          <a:xfrm>
            <a:off x="1568850" y="286925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Pasos en Agile Testing</a:t>
            </a:r>
            <a:endParaRPr/>
          </a:p>
        </p:txBody>
      </p:sp>
      <p:pic>
        <p:nvPicPr>
          <p:cNvPr id="2004" name="Google Shape;20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13" y="1258150"/>
            <a:ext cx="7847776" cy="344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37"/>
          <p:cNvSpPr txBox="1"/>
          <p:nvPr/>
        </p:nvSpPr>
        <p:spPr>
          <a:xfrm>
            <a:off x="2745675" y="1420950"/>
            <a:ext cx="189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